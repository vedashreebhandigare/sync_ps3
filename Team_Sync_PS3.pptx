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Kanit Light"/>
      <p:regular r:id="rId18"/>
    </p:embeddedFont>
    <p:embeddedFont>
      <p:font typeface="Kanit Light"/>
      <p:regular r:id="rId19"/>
    </p:embeddedFont>
    <p:embeddedFont>
      <p:font typeface="Kanit Light"/>
      <p:regular r:id="rId20"/>
    </p:embeddedFont>
    <p:embeddedFont>
      <p:font typeface="Kanit Light"/>
      <p:regular r:id="rId21"/>
    </p:embeddedFont>
    <p:embeddedFont>
      <p:font typeface="Martel Sans"/>
      <p:regular r:id="rId22"/>
    </p:embeddedFont>
    <p:embeddedFont>
      <p:font typeface="Martel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83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Multi-Branch Banquet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760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Digitizing and Centralizing Banquet Operations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Presented by: Vedashree Bhandigare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                            Arjun Raghav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                            Pranay Kumar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0482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098" y="808434"/>
            <a:ext cx="4486632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Presentation Outline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85098" y="1812846"/>
            <a:ext cx="22431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5098" y="2163604"/>
            <a:ext cx="4205526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785098" y="2336721"/>
            <a:ext cx="3364944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85098" y="2890361"/>
            <a:ext cx="420552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Understanding the industry challenges.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2437" y="1812846"/>
            <a:ext cx="22431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2437" y="2163604"/>
            <a:ext cx="4205526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5212437" y="2336721"/>
            <a:ext cx="3364944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Centralized Dashboard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12437" y="2890361"/>
            <a:ext cx="420552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Multi-branch control and insights.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39776" y="1812846"/>
            <a:ext cx="22431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39776" y="2163604"/>
            <a:ext cx="4205526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9639776" y="2336721"/>
            <a:ext cx="3364944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Lead Lifecycle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639776" y="2890361"/>
            <a:ext cx="420552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From inquiry to conversion tracking.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85098" y="3637240"/>
            <a:ext cx="22431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85098" y="3987998"/>
            <a:ext cx="4205526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785098" y="4161115"/>
            <a:ext cx="3364944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Booking &amp; Calendar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85098" y="4714756"/>
            <a:ext cx="4205526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availability and conflict resolution.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212437" y="3637240"/>
            <a:ext cx="22431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12437" y="3987998"/>
            <a:ext cx="4205526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437" y="4161115"/>
            <a:ext cx="3364944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Event Management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437" y="4714756"/>
            <a:ext cx="4205526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Comprehensive event workflow automation.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639776" y="3637240"/>
            <a:ext cx="22431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9639776" y="3987998"/>
            <a:ext cx="4205526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5" name="Text 23"/>
          <p:cNvSpPr/>
          <p:nvPr/>
        </p:nvSpPr>
        <p:spPr>
          <a:xfrm>
            <a:off x="9639776" y="4161115"/>
            <a:ext cx="3364944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Billing &amp; Payments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39776" y="4714756"/>
            <a:ext cx="420552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financial processing.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85098" y="5818465"/>
            <a:ext cx="22431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07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85098" y="6169223"/>
            <a:ext cx="13060204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9" name="Text 27"/>
          <p:cNvSpPr/>
          <p:nvPr/>
        </p:nvSpPr>
        <p:spPr>
          <a:xfrm>
            <a:off x="785098" y="6342340"/>
            <a:ext cx="3920609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Call Management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808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(Beta)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85098" y="6895981"/>
            <a:ext cx="13060204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advanced AI-powered feature.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8603" y="1327309"/>
            <a:ext cx="4367689" cy="466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Core Industry Problem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8603" y="2288977"/>
            <a:ext cx="6575822" cy="3670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8603" y="6069925"/>
            <a:ext cx="6575822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2574" y="2057162"/>
            <a:ext cx="224195" cy="2241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92270" y="2052638"/>
            <a:ext cx="1868210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Lead Tracking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9592270" y="2384584"/>
            <a:ext cx="2886908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Inefficient, prone to errors, and time-consuming.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2574" y="2982516"/>
            <a:ext cx="224195" cy="2241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92270" y="2977991"/>
            <a:ext cx="1868210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Double Bookings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9592270" y="3309938"/>
            <a:ext cx="2886908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Leads to customer dissatisfaction and lost revenue.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2574" y="3907869"/>
            <a:ext cx="224195" cy="22419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92270" y="3903345"/>
            <a:ext cx="1868210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Poor Follow-ups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9592270" y="4235291"/>
            <a:ext cx="2886908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Missed opportunities and weak client relationships.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62574" y="4833223"/>
            <a:ext cx="224195" cy="22419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92270" y="4828699"/>
            <a:ext cx="1965484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Centralized Visibility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9592270" y="5160645"/>
            <a:ext cx="2886908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Lack of overview across multiple banquet branches.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62574" y="5758577"/>
            <a:ext cx="224195" cy="22419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592270" y="5754053"/>
            <a:ext cx="2294096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Billing &amp; Stock Inefficiencies</a:t>
            </a:r>
            <a:endParaRPr lang="en-US" sz="1450" dirty="0"/>
          </a:p>
        </p:txBody>
      </p:sp>
      <p:sp>
        <p:nvSpPr>
          <p:cNvPr id="19" name="Text 11"/>
          <p:cNvSpPr/>
          <p:nvPr/>
        </p:nvSpPr>
        <p:spPr>
          <a:xfrm>
            <a:off x="9592270" y="6085999"/>
            <a:ext cx="2886908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errors and lack of real-time inventory.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2158603" y="6703933"/>
            <a:ext cx="10313075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These common pain points hinder growth and operational efficiency in the banquet industry.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Implemented Features: Driving Efficiency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solution directly addresses industry challenges with robust, functional modules.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71" y="1197173"/>
            <a:ext cx="8226742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Centralized Multi-Branch Dashboard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9371" y="1870234"/>
            <a:ext cx="5766554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Empowering owners with complete oversight.</a:t>
            </a:r>
            <a:endParaRPr lang="en-US" sz="2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799" y="3485078"/>
            <a:ext cx="3709749" cy="20704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35228" y="2670096"/>
            <a:ext cx="4078605" cy="1767245"/>
          </a:xfrm>
          <a:prstGeom prst="roundRect">
            <a:avLst>
              <a:gd name="adj" fmla="val 620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12368" y="2670096"/>
            <a:ext cx="91440" cy="1767245"/>
          </a:xfrm>
          <a:prstGeom prst="roundRect">
            <a:avLst>
              <a:gd name="adj" fmla="val 89161"/>
            </a:avLst>
          </a:prstGeom>
          <a:solidFill>
            <a:srgbClr val="437066"/>
          </a:solidFill>
          <a:ln/>
        </p:spPr>
      </p:sp>
      <p:sp>
        <p:nvSpPr>
          <p:cNvPr id="7" name="Text 4"/>
          <p:cNvSpPr/>
          <p:nvPr/>
        </p:nvSpPr>
        <p:spPr>
          <a:xfrm>
            <a:off x="5920740" y="2887028"/>
            <a:ext cx="274891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Owner Dashboard Control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920740" y="3356372"/>
            <a:ext cx="3576161" cy="8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Seamlessly manage and monitor all banquet branches from a single interface.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879925" y="2670096"/>
            <a:ext cx="4078605" cy="1767245"/>
          </a:xfrm>
          <a:prstGeom prst="roundRect">
            <a:avLst>
              <a:gd name="adj" fmla="val 620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57065" y="2670096"/>
            <a:ext cx="91440" cy="1767245"/>
          </a:xfrm>
          <a:prstGeom prst="roundRect">
            <a:avLst>
              <a:gd name="adj" fmla="val 89161"/>
            </a:avLst>
          </a:prstGeom>
          <a:solidFill>
            <a:srgbClr val="437066"/>
          </a:solidFill>
          <a:ln/>
        </p:spPr>
      </p:sp>
      <p:sp>
        <p:nvSpPr>
          <p:cNvPr id="11" name="Text 8"/>
          <p:cNvSpPr/>
          <p:nvPr/>
        </p:nvSpPr>
        <p:spPr>
          <a:xfrm>
            <a:off x="10165437" y="2887028"/>
            <a:ext cx="295775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Branch-wise Access Control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165437" y="3356372"/>
            <a:ext cx="3576161" cy="8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Define and manage user permissions for each branch, ensuring data security and relevance.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35228" y="4603433"/>
            <a:ext cx="4078605" cy="1767245"/>
          </a:xfrm>
          <a:prstGeom prst="roundRect">
            <a:avLst>
              <a:gd name="adj" fmla="val 620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12368" y="4603433"/>
            <a:ext cx="91440" cy="1767245"/>
          </a:xfrm>
          <a:prstGeom prst="roundRect">
            <a:avLst>
              <a:gd name="adj" fmla="val 89161"/>
            </a:avLst>
          </a:prstGeom>
          <a:solidFill>
            <a:srgbClr val="437066"/>
          </a:solidFill>
          <a:ln/>
        </p:spPr>
      </p:sp>
      <p:sp>
        <p:nvSpPr>
          <p:cNvPr id="15" name="Text 12"/>
          <p:cNvSpPr/>
          <p:nvPr/>
        </p:nvSpPr>
        <p:spPr>
          <a:xfrm>
            <a:off x="5920740" y="4820364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Performance Tracking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920740" y="5289709"/>
            <a:ext cx="3576161" cy="8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Visualize and analyze key performance indicators (KPIs) for individual branches and the entire network.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879925" y="4603433"/>
            <a:ext cx="4078605" cy="1767245"/>
          </a:xfrm>
          <a:prstGeom prst="roundRect">
            <a:avLst>
              <a:gd name="adj" fmla="val 620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57065" y="4603433"/>
            <a:ext cx="91440" cy="1767245"/>
          </a:xfrm>
          <a:prstGeom prst="roundRect">
            <a:avLst>
              <a:gd name="adj" fmla="val 89161"/>
            </a:avLst>
          </a:prstGeom>
          <a:solidFill>
            <a:srgbClr val="437066"/>
          </a:solidFill>
          <a:ln/>
        </p:spPr>
      </p:sp>
      <p:sp>
        <p:nvSpPr>
          <p:cNvPr id="19" name="Text 16"/>
          <p:cNvSpPr/>
          <p:nvPr/>
        </p:nvSpPr>
        <p:spPr>
          <a:xfrm>
            <a:off x="10165437" y="4820364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Visibility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165437" y="5289709"/>
            <a:ext cx="3576161" cy="8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Gain instant insights into revenue streams and financial health across all locations.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9371" y="6744295"/>
            <a:ext cx="13271659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fully functional module provides critical data and control, enabling informed decision-making.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9102" y="507325"/>
            <a:ext cx="7526774" cy="53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Complete Lead Lifecycle Management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89102" y="1096089"/>
            <a:ext cx="5770483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Streamlining every step from inquiry to conversion.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102" y="1613178"/>
            <a:ext cx="11852077" cy="5333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74416" y="1865852"/>
            <a:ext cx="2074102" cy="32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Call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174416" y="2277539"/>
            <a:ext cx="2074102" cy="45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Initial client inquiry logged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7461" y="3287702"/>
            <a:ext cx="459408" cy="4594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5725" y="5865906"/>
            <a:ext cx="2085498" cy="32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Visit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225725" y="6277592"/>
            <a:ext cx="2085498" cy="45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On-site consultation scheduled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8770" y="4962938"/>
            <a:ext cx="459408" cy="4594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54242" y="1825966"/>
            <a:ext cx="2074102" cy="32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Tasting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254242" y="2237652"/>
            <a:ext cx="2074102" cy="45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Menu sampling and feedback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1476" y="3242117"/>
            <a:ext cx="459408" cy="4594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05552" y="5865906"/>
            <a:ext cx="2074101" cy="32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9305552" y="6277592"/>
            <a:ext cx="2074101" cy="45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Deposit collected to confirm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18596" y="4962938"/>
            <a:ext cx="459408" cy="45940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89102" y="7092910"/>
            <a:ext cx="11852077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system meticulously tracks each lead through its entire journey, ensuring no opportunity is missed.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389102" y="7480697"/>
            <a:ext cx="11852077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module is fully implemented and operational, significantly boosting sales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8814" y="1345049"/>
            <a:ext cx="3895844" cy="486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Pipeline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814" y="2371844"/>
            <a:ext cx="6856095" cy="3826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8814" y="6318766"/>
            <a:ext cx="6856095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182576" y="2112883"/>
            <a:ext cx="623292" cy="1082516"/>
          </a:xfrm>
          <a:prstGeom prst="roundRect">
            <a:avLst>
              <a:gd name="adj" fmla="val 36003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77362" y="2508052"/>
            <a:ext cx="233720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912906" y="2268617"/>
            <a:ext cx="1947863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Status Pipeline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912906" y="2619137"/>
            <a:ext cx="2786063" cy="42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Visual progression from 'New' inquiry to 'Converted' or 'Lost' status.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82576" y="3302437"/>
            <a:ext cx="623292" cy="1082516"/>
          </a:xfrm>
          <a:prstGeom prst="roundRect">
            <a:avLst>
              <a:gd name="adj" fmla="val 36003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77362" y="3697605"/>
            <a:ext cx="233720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912906" y="3458170"/>
            <a:ext cx="1947863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Lead Assignment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912906" y="3808690"/>
            <a:ext cx="2786063" cy="42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or manual assignment of leads to relevant team members.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82576" y="4491990"/>
            <a:ext cx="623292" cy="1082516"/>
          </a:xfrm>
          <a:prstGeom prst="roundRect">
            <a:avLst>
              <a:gd name="adj" fmla="val 36003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77362" y="4887158"/>
            <a:ext cx="233720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912906" y="4647724"/>
            <a:ext cx="1947863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Follow-up Reminders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912906" y="4998244"/>
            <a:ext cx="2786063" cy="42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alerts to ensure timely communication and engagement.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82576" y="5681543"/>
            <a:ext cx="623292" cy="1082516"/>
          </a:xfrm>
          <a:prstGeom prst="roundRect">
            <a:avLst>
              <a:gd name="adj" fmla="val 36003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77362" y="6076712"/>
            <a:ext cx="233720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912906" y="5837277"/>
            <a:ext cx="2065020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Lead Tracking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912906" y="6187797"/>
            <a:ext cx="2786063" cy="42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Monitor lead status and activities in real-time for immediate action.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2217" y="681038"/>
            <a:ext cx="7433429" cy="522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Booking &amp; Calendar System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42217" y="1253252"/>
            <a:ext cx="6604754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Eliminating scheduling conflicts with intelligent automation.</a:t>
            </a:r>
            <a:endParaRPr lang="en-US" sz="1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217" y="1890951"/>
            <a:ext cx="2509957" cy="15512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75522" y="1890951"/>
            <a:ext cx="232874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Live Availability Calendar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75522" y="2275761"/>
            <a:ext cx="4728567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Intuitive calendar showing real-time availability of all banquet halls.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17" y="3689032"/>
            <a:ext cx="2509957" cy="15512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75522" y="3689032"/>
            <a:ext cx="284214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Conflict Prevention Mechanism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75522" y="4073843"/>
            <a:ext cx="4728567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alerts and blocks to prevent any overlapping bookings.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217" y="5487114"/>
            <a:ext cx="2509957" cy="15512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75522" y="5487114"/>
            <a:ext cx="3440192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 &amp; Balance Payment Tracking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175522" y="5871924"/>
            <a:ext cx="4728567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Integrated financial tracking for deposits and outstanding amounts linked to bookings.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855" y="1947505"/>
            <a:ext cx="3775710" cy="50342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42217" y="7316033"/>
            <a:ext cx="1154584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system ensures zero double bookings and a smooth scheduling experience, fully implemented.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35392" y="1303258"/>
            <a:ext cx="3782973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Event Management Module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3135392" y="1707713"/>
            <a:ext cx="3887272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Orchestrating flawless events from start to finish.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5392" y="2777252"/>
            <a:ext cx="5330309" cy="29750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5392" y="5825014"/>
            <a:ext cx="5330309" cy="14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768834" y="2104549"/>
            <a:ext cx="2733675" cy="824032"/>
          </a:xfrm>
          <a:prstGeom prst="roundRect">
            <a:avLst>
              <a:gd name="adj" fmla="val 6175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05161" y="2240875"/>
            <a:ext cx="15143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Guest Count Tracking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905161" y="2494836"/>
            <a:ext cx="2461022" cy="29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Dynamically manage and update guest attendance numbers.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768834" y="2993231"/>
            <a:ext cx="2733675" cy="824032"/>
          </a:xfrm>
          <a:prstGeom prst="roundRect">
            <a:avLst>
              <a:gd name="adj" fmla="val 6175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05161" y="3129558"/>
            <a:ext cx="15143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Menu Selection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905161" y="3383518"/>
            <a:ext cx="2461022" cy="29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Streamlined process for selecting and customizing event menus.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768834" y="3881914"/>
            <a:ext cx="2733675" cy="824032"/>
          </a:xfrm>
          <a:prstGeom prst="roundRect">
            <a:avLst>
              <a:gd name="adj" fmla="val 6175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05161" y="4018240"/>
            <a:ext cx="15143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Add-on Management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905161" y="4272201"/>
            <a:ext cx="2461022" cy="29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Easily include and track additional services like special lighting or entertainment.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768834" y="4770596"/>
            <a:ext cx="2733675" cy="972741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05161" y="4906923"/>
            <a:ext cx="15143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Vendor Allocation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905161" y="5160883"/>
            <a:ext cx="2461022" cy="446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Assign and manage both internal and third-party vendors for specific event needs.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768834" y="5807988"/>
            <a:ext cx="2733675" cy="824032"/>
          </a:xfrm>
          <a:prstGeom prst="roundRect">
            <a:avLst>
              <a:gd name="adj" fmla="val 6175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05161" y="5944314"/>
            <a:ext cx="158674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Event Checklist Tracking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905161" y="6198275"/>
            <a:ext cx="2461022" cy="29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Comprehensive checklists ensure all tasks are completed on time and in order.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135392" y="6777514"/>
            <a:ext cx="8359616" cy="14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module provides robust tools for managing every aspect of an event workflow, active and essential for smooth operations.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609957"/>
            <a:ext cx="6512719" cy="687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Billing &amp; Payment System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620" y="1382316"/>
            <a:ext cx="7975044" cy="41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Automating financial operations for accuracy and ease.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69620" y="2353985"/>
            <a:ext cx="3032046" cy="4093012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889" y="2604254"/>
            <a:ext cx="2531507" cy="14129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9889" y="4256961"/>
            <a:ext cx="2531507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Automated Invoice Generation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19889" y="5157311"/>
            <a:ext cx="2531507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 professional, itemized invoices instantly.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014788" y="2353985"/>
            <a:ext cx="3032165" cy="4093012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057" y="2604254"/>
            <a:ext cx="2531626" cy="14129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65057" y="4256961"/>
            <a:ext cx="2531626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Online &amp; Cash Payment Tracking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4265057" y="5157311"/>
            <a:ext cx="253162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Record and reconcile all payment methods seamlessly.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591068" y="2353985"/>
            <a:ext cx="3032046" cy="4439483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337" y="2604254"/>
            <a:ext cx="2531507" cy="14129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41337" y="4256961"/>
            <a:ext cx="2531507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 Tax Calculation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7841337" y="4813697"/>
            <a:ext cx="2531507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Accurate and compliant tax computations applied automatically.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10836235" y="2353985"/>
            <a:ext cx="3032165" cy="4439483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6505" y="2604254"/>
            <a:ext cx="2531626" cy="14129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086505" y="4256961"/>
            <a:ext cx="2531626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Outstanding Tracking</a:t>
            </a:r>
            <a:endParaRPr lang="en-US" sz="2150" dirty="0"/>
          </a:p>
        </p:txBody>
      </p:sp>
      <p:sp>
        <p:nvSpPr>
          <p:cNvPr id="19" name="Text 13"/>
          <p:cNvSpPr/>
          <p:nvPr/>
        </p:nvSpPr>
        <p:spPr>
          <a:xfrm>
            <a:off x="11086505" y="5157311"/>
            <a:ext cx="2531626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Monitor pending payments and send automated reminders to clients.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769620" y="7273052"/>
            <a:ext cx="1309116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billing calculations are fully automated and operational, ensuring financial accuracy and transparency.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679615"/>
            <a:ext cx="13042821" cy="4870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2026-03-01T06:28:22Z</dcterms:created>
  <dcterms:modified xsi:type="dcterms:W3CDTF">2026-03-01T06:28:22Z</dcterms:modified>
</cp:coreProperties>
</file>